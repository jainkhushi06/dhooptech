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  <p:embeddedFont>
      <p:font typeface="Arial" charset="1" panose="020B0604020202020204"/>
      <p:regular r:id="rId20"/>
    </p:embeddedFon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  <p:embeddedFont>
      <p:font typeface="Oswald Bold" charset="1" panose="00000800000000000000"/>
      <p:regular r:id="rId25"/>
    </p:embeddedFont>
    <p:embeddedFont>
      <p:font typeface="Oswald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8288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2333" y="2573817"/>
            <a:ext cx="4805258" cy="5139357"/>
            <a:chOff x="0" y="0"/>
            <a:chExt cx="6407010" cy="6852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82" b="-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59950" y="990048"/>
            <a:ext cx="12618749" cy="256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96929" y="-790137"/>
            <a:ext cx="15544800" cy="3114900"/>
            <a:chOff x="0" y="0"/>
            <a:chExt cx="20726400" cy="415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4153195"/>
            </a:xfrm>
            <a:custGeom>
              <a:avLst/>
              <a:gdLst/>
              <a:ahLst/>
              <a:cxnLst/>
              <a:rect r="r" b="b" t="t" l="l"/>
              <a:pathLst>
                <a:path h="415319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3195"/>
                  </a:lnTo>
                  <a:lnTo>
                    <a:pt x="0" y="41531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39" r="0" b="-4723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726400" cy="417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8350" y="1976342"/>
            <a:ext cx="8704202" cy="796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26005</a:t>
            </a: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Solar Powered Smart Mini Cold Storage System for Fresh Vegetables in North Eastern Region (NER)</a:t>
            </a: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Agriculture, Food Tech &amp; Rural Development</a:t>
            </a: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488632" indent="-244316" lvl="1">
              <a:lnSpc>
                <a:spcPts val="64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 Dhoop Tech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7680" y="-478879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8800" y="1606334"/>
            <a:ext cx="9911829" cy="767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 AND SOLUTION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compact refrigerator that uses 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*Solar Energy and Peltier Technology*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provide cooling without relying completely on grid electricity.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Off-grid cooling — Enables cooling with solar-charged battery power.</a:t>
            </a:r>
          </a:p>
          <a:p>
            <a:pPr algn="just">
              <a:lnSpc>
                <a:spcPts val="2879"/>
              </a:lnSpc>
            </a:pP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Renewable energy — Uses solar energy for battery charging.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Compressor-free cooling — Uses Peltier thermoelectric technology.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Better heat management — Heat sinks and fans effectively remove hot-side heat.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Temperature monitoring — Real-time temperature can be monitored without opening the chamber.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Thermal insulation — Thermocol reduces unwanted heat transfer and helps maintain the cold environment.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Backup operation — Rechargeable battery and manual charging provide flexibility when sunlight is unavailable.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Compact &amp; practical — Suitable for small-scale cooling and academic/field demonstrations.</a:t>
            </a:r>
          </a:p>
          <a:p>
            <a:pPr algn="just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Multi-domain learning — Integrates electrical, thermal, mechanical and renewable-energy concepts.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803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2139153" cy="1249051"/>
            <a:chOff x="0" y="0"/>
            <a:chExt cx="2852204" cy="1665402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852166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52166">
                  <a:moveTo>
                    <a:pt x="0" y="832739"/>
                  </a:moveTo>
                  <a:cubicBezTo>
                    <a:pt x="0" y="372872"/>
                    <a:pt x="638429" y="0"/>
                    <a:pt x="1426083" y="0"/>
                  </a:cubicBezTo>
                  <a:cubicBezTo>
                    <a:pt x="2213737" y="0"/>
                    <a:pt x="2852166" y="372872"/>
                    <a:pt x="2852166" y="832739"/>
                  </a:cubicBezTo>
                  <a:cubicBezTo>
                    <a:pt x="2852166" y="1292606"/>
                    <a:pt x="2213737" y="1665478"/>
                    <a:pt x="1426083" y="1665478"/>
                  </a:cubicBezTo>
                  <a:cubicBezTo>
                    <a:pt x="63842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852204" cy="168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Dhoop Tech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53750" y="5885612"/>
            <a:ext cx="6276670" cy="3131258"/>
            <a:chOff x="0" y="0"/>
            <a:chExt cx="8368894" cy="41750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68919" cy="4174998"/>
            </a:xfrm>
            <a:custGeom>
              <a:avLst/>
              <a:gdLst/>
              <a:ahLst/>
              <a:cxnLst/>
              <a:rect r="r" b="b" t="t" l="l"/>
              <a:pathLst>
                <a:path h="4174998" w="8368919">
                  <a:moveTo>
                    <a:pt x="0" y="0"/>
                  </a:moveTo>
                  <a:lnTo>
                    <a:pt x="8368919" y="0"/>
                  </a:lnTo>
                  <a:lnTo>
                    <a:pt x="8368919" y="4174998"/>
                  </a:lnTo>
                  <a:lnTo>
                    <a:pt x="0" y="417499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68894" cy="421311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Value Proposition - 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*Solar + Battery + Peltier* in one system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*Compressor-free cooling*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Active heat management using *3 cooling fans*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Real-time temperature display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Designed for *off-grid and low-connectivity areas*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53750" y="1667723"/>
            <a:ext cx="6276670" cy="3869922"/>
            <a:chOff x="0" y="0"/>
            <a:chExt cx="8368894" cy="5159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68919" cy="5159883"/>
            </a:xfrm>
            <a:custGeom>
              <a:avLst/>
              <a:gdLst/>
              <a:ahLst/>
              <a:cxnLst/>
              <a:rect r="r" b="b" t="t" l="l"/>
              <a:pathLst>
                <a:path h="5159883" w="8368919">
                  <a:moveTo>
                    <a:pt x="0" y="0"/>
                  </a:moveTo>
                  <a:lnTo>
                    <a:pt x="8368919" y="0"/>
                  </a:lnTo>
                  <a:lnTo>
                    <a:pt x="8368919" y="5159883"/>
                  </a:lnTo>
                  <a:lnTo>
                    <a:pt x="0" y="5159883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368894" cy="519799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Resolution -  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and remote locations may </a:t>
              </a: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 *limited access to reliable electricity*</a:t>
              </a: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making conventional refrigeration difficult.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Works using solar energy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Battery provides backup when sunlight is unavailable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Insulation helps maintain the cooling inside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Compact and suitable for small-scale cooling needs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803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49"/>
            <a:chOff x="0" y="0"/>
            <a:chExt cx="6408001" cy="7301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094909" cy="1249051"/>
            <a:chOff x="0" y="0"/>
            <a:chExt cx="2793213" cy="1665402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79323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793238">
                  <a:moveTo>
                    <a:pt x="0" y="832739"/>
                  </a:moveTo>
                  <a:cubicBezTo>
                    <a:pt x="0" y="372872"/>
                    <a:pt x="625221" y="0"/>
                    <a:pt x="1396619" y="0"/>
                  </a:cubicBezTo>
                  <a:cubicBezTo>
                    <a:pt x="2168017" y="0"/>
                    <a:pt x="2793238" y="372872"/>
                    <a:pt x="2793238" y="832739"/>
                  </a:cubicBezTo>
                  <a:cubicBezTo>
                    <a:pt x="2793238" y="1292606"/>
                    <a:pt x="2168017" y="1665478"/>
                    <a:pt x="1396619" y="1665478"/>
                  </a:cubicBezTo>
                  <a:cubicBezTo>
                    <a:pt x="62522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793213" cy="168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Dhoop Tech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215" y="1730750"/>
            <a:ext cx="11489950" cy="7659967"/>
            <a:chOff x="0" y="0"/>
            <a:chExt cx="15319934" cy="10213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19883" cy="10213340"/>
            </a:xfrm>
            <a:custGeom>
              <a:avLst/>
              <a:gdLst/>
              <a:ahLst/>
              <a:cxnLst/>
              <a:rect r="r" b="b" t="t" l="l"/>
              <a:pathLst>
                <a:path h="10213340" w="15319883">
                  <a:moveTo>
                    <a:pt x="0" y="0"/>
                  </a:moveTo>
                  <a:lnTo>
                    <a:pt x="15319883" y="0"/>
                  </a:lnTo>
                  <a:lnTo>
                    <a:pt x="15319883" y="10213340"/>
                  </a:lnTo>
                  <a:lnTo>
                    <a:pt x="0" y="10213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778301" y="2743200"/>
            <a:ext cx="5949258" cy="6474543"/>
            <a:chOff x="0" y="0"/>
            <a:chExt cx="7932344" cy="86327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32293" cy="8632698"/>
            </a:xfrm>
            <a:custGeom>
              <a:avLst/>
              <a:gdLst/>
              <a:ahLst/>
              <a:cxnLst/>
              <a:rect r="r" b="b" t="t" l="l"/>
              <a:pathLst>
                <a:path h="8632698" w="7932293">
                  <a:moveTo>
                    <a:pt x="0" y="0"/>
                  </a:moveTo>
                  <a:lnTo>
                    <a:pt x="7932293" y="0"/>
                  </a:lnTo>
                  <a:lnTo>
                    <a:pt x="7932293" y="8632698"/>
                  </a:lnTo>
                  <a:lnTo>
                    <a:pt x="0" y="8632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769" r="0" b="-2006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64044" y="2743200"/>
            <a:ext cx="5196021" cy="419557"/>
            <a:chOff x="0" y="0"/>
            <a:chExt cx="6928028" cy="5594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27977" cy="559435"/>
            </a:xfrm>
            <a:custGeom>
              <a:avLst/>
              <a:gdLst/>
              <a:ahLst/>
              <a:cxnLst/>
              <a:rect r="r" b="b" t="t" l="l"/>
              <a:pathLst>
                <a:path h="559435" w="6927977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6834759" y="0"/>
                  </a:lnTo>
                  <a:cubicBezTo>
                    <a:pt x="6886194" y="0"/>
                    <a:pt x="6927977" y="41783"/>
                    <a:pt x="6927977" y="93218"/>
                  </a:cubicBezTo>
                  <a:lnTo>
                    <a:pt x="6927977" y="466217"/>
                  </a:lnTo>
                  <a:cubicBezTo>
                    <a:pt x="6927977" y="517652"/>
                    <a:pt x="6886194" y="559435"/>
                    <a:pt x="6834759" y="559435"/>
                  </a:cubicBezTo>
                  <a:lnTo>
                    <a:pt x="93218" y="559435"/>
                  </a:lnTo>
                  <a:cubicBezTo>
                    <a:pt x="41783" y="559435"/>
                    <a:pt x="0" y="517652"/>
                    <a:pt x="0" y="466217"/>
                  </a:cubicBez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928028" cy="61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Tools/Tech used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49"/>
            <a:chOff x="0" y="0"/>
            <a:chExt cx="6408001" cy="7301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408001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080165" cy="1249051"/>
            <a:chOff x="0" y="0"/>
            <a:chExt cx="2773553" cy="1665402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773553" cy="1665478"/>
            </a:xfrm>
            <a:custGeom>
              <a:avLst/>
              <a:gdLst/>
              <a:ahLst/>
              <a:cxnLst/>
              <a:rect r="r" b="b" t="t" l="l"/>
              <a:pathLst>
                <a:path h="1665478" w="2773553">
                  <a:moveTo>
                    <a:pt x="0" y="832739"/>
                  </a:moveTo>
                  <a:cubicBezTo>
                    <a:pt x="0" y="372872"/>
                    <a:pt x="620903" y="0"/>
                    <a:pt x="1386713" y="0"/>
                  </a:cubicBezTo>
                  <a:cubicBezTo>
                    <a:pt x="2152523" y="0"/>
                    <a:pt x="2773553" y="372872"/>
                    <a:pt x="2773553" y="832739"/>
                  </a:cubicBezTo>
                  <a:cubicBezTo>
                    <a:pt x="2773553" y="1292606"/>
                    <a:pt x="2152650" y="1665478"/>
                    <a:pt x="1386840" y="1665478"/>
                  </a:cubicBezTo>
                  <a:cubicBezTo>
                    <a:pt x="621030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773553" cy="168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Dhoop Tech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4544" y="1729940"/>
            <a:ext cx="8046720" cy="701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</a:t>
            </a: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</a:t>
            </a: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</a:t>
            </a: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2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idea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Feasibility: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readily available components such as Peltier modules, DC fans, solar panels, batteries, temperature sensors and microcontrollers.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➢ 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Feasibility: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 be operated with a simple interface and requires little mechanical maintenance.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➢ 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Energy Feasibility: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Solar generation combined with battery storage can provide power during sunlight hours as well as periods of low sunlight.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➢ 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Economic Feasibility: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Prototype can be constructed using commercially available components, allowing the design to be tested and scaled according to storage requirements.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04144" y="1622108"/>
            <a:ext cx="8509311" cy="745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Challenges, Risks and their Overcoming: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cooling efficiency of Peltier modules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Use of effective insulation, adequate heat-sink area and high-airflow fans minimizing cooling losses.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Heat accumulation on the hot side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Constant ventilation for the heat sink and hot-side temperature monitoring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battery backup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Optimized cooling cycles and insulation to reduce unnecessary energy consumption.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Temperature variation inside the chamber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Strategically and maintain proper airflow inside the storage chamber.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Outdoor operating conditions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Use weather-resistant housing and protect the electronic components from moisture and dust.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21" y="1628375"/>
            <a:ext cx="12962668" cy="694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AutoNum type="romanLcPeriod" startAt="1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Reduced Post-Harvest Losses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temporary controlled cooling after harvesting.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slow deterioration and gives farmers additional time before transportation or sale.</a:t>
            </a:r>
          </a:p>
          <a:p>
            <a:pPr algn="l" marL="542925" indent="-271462" lvl="1">
              <a:lnSpc>
                <a:spcPts val="3600"/>
              </a:lnSpc>
              <a:buAutoNum type="romanLcPeriod" startAt="1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Improved Farmer Flexibility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a local storage point between harvesting and transportation.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are less dependent on immediate sale of highly perishable vegetables.</a:t>
            </a:r>
          </a:p>
          <a:p>
            <a:pPr algn="l" marL="542925" indent="-271462" lvl="1">
              <a:lnSpc>
                <a:spcPts val="3600"/>
              </a:lnSpc>
              <a:buAutoNum type="romanLcPeriod" startAt="1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Affordable Local Cold Storage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Compact construction allows deployment at smaller collection points.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Makes cooling infrastructure more accessible to small farmers and farmer groups.</a:t>
            </a:r>
          </a:p>
          <a:p>
            <a:pPr algn="l" marL="542925" indent="-271462" lvl="1">
              <a:lnSpc>
                <a:spcPts val="3600"/>
              </a:lnSpc>
              <a:buAutoNum type="romanLcPeriod" startAt="1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Scalability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Modular cooling and power components can be increased according to the required storage capacity.</a:t>
            </a:r>
          </a:p>
          <a:p>
            <a:pPr algn="l" marL="1174432" indent="-391478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same basic design can be adapted for different farms, collection centres and local markets.</a:t>
            </a:r>
          </a:p>
          <a:p>
            <a:pPr algn="just" marL="1174432" indent="-391478" lvl="2">
              <a:lnSpc>
                <a:spcPts val="32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408001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2050666" cy="1249051"/>
            <a:chOff x="0" y="0"/>
            <a:chExt cx="2734221" cy="1665402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734183" cy="1665478"/>
            </a:xfrm>
            <a:custGeom>
              <a:avLst/>
              <a:gdLst/>
              <a:ahLst/>
              <a:cxnLst/>
              <a:rect r="r" b="b" t="t" l="l"/>
              <a:pathLst>
                <a:path h="1665478" w="2734183">
                  <a:moveTo>
                    <a:pt x="0" y="832739"/>
                  </a:moveTo>
                  <a:cubicBezTo>
                    <a:pt x="0" y="372872"/>
                    <a:pt x="612013" y="0"/>
                    <a:pt x="1367155" y="0"/>
                  </a:cubicBezTo>
                  <a:cubicBezTo>
                    <a:pt x="2122297" y="0"/>
                    <a:pt x="2734183" y="372872"/>
                    <a:pt x="2734183" y="832739"/>
                  </a:cubicBezTo>
                  <a:cubicBezTo>
                    <a:pt x="2734183" y="1292606"/>
                    <a:pt x="2122170" y="1665478"/>
                    <a:pt x="1367028" y="1665478"/>
                  </a:cubicBezTo>
                  <a:cubicBezTo>
                    <a:pt x="611886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734221" cy="168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Dhoop Tech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7943" y="2065772"/>
            <a:ext cx="14863353" cy="620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Technology Research:</a:t>
            </a:r>
          </a:p>
          <a:p>
            <a:pPr algn="just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Peltier Plate Refrigerator — Project Tutorial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https://circuitsbazaar.com/solar-peltier-plate-refrigerator-project-tutorial/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ICAR — Solid State / Peltier Cooling Module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https://epubs.icar.org.in/index.php/IJDS/article/view/114858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ICAR — Solar Powered Cold Storage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https://epubs.icar.org.in/index.php/IJAgS/article/view/110904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Peltier Plate Refrigerator — Project Reference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https://circuitsbazaar.com/shop/solar-peltier-plate-refrigerator-project/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Chat gpt </a:t>
            </a:r>
          </a:p>
          <a:p>
            <a:pPr algn="just" marL="488632" indent="-244316" lvl="1">
              <a:lnSpc>
                <a:spcPts val="32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49"/>
            <a:chOff x="0" y="0"/>
            <a:chExt cx="6408001" cy="730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408001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2035921" cy="1249051"/>
            <a:chOff x="0" y="0"/>
            <a:chExt cx="2714562" cy="1665402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71449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714498">
                  <a:moveTo>
                    <a:pt x="0" y="832739"/>
                  </a:moveTo>
                  <a:cubicBezTo>
                    <a:pt x="0" y="372872"/>
                    <a:pt x="607695" y="0"/>
                    <a:pt x="1357249" y="0"/>
                  </a:cubicBezTo>
                  <a:cubicBezTo>
                    <a:pt x="2106803" y="0"/>
                    <a:pt x="2714498" y="372872"/>
                    <a:pt x="2714498" y="832739"/>
                  </a:cubicBezTo>
                  <a:cubicBezTo>
                    <a:pt x="2714498" y="1292606"/>
                    <a:pt x="2106803" y="1665478"/>
                    <a:pt x="1357249" y="1665478"/>
                  </a:cubicBezTo>
                  <a:cubicBezTo>
                    <a:pt x="607695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714562" cy="172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Dhoop Tech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t="0" r="-271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DAHU0Tz6RoI</dc:identifier>
  <dcterms:modified xsi:type="dcterms:W3CDTF">2011-08-01T06:04:30Z</dcterms:modified>
  <cp:revision>1</cp:revision>
  <dc:title>DhoopTech_SIH2026_Presentation</dc:title>
</cp:coreProperties>
</file>